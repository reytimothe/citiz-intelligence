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1" r:id="rId5"/>
    <p:sldId id="266" r:id="rId6"/>
    <p:sldId id="263" r:id="rId7"/>
    <p:sldId id="265" r:id="rId8"/>
    <p:sldId id="267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1" autoAdjust="0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" y="1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631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34573"/>
            <a:ext cx="642937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Citiz</a:t>
            </a:r>
            <a:r>
              <a:rPr lang="en-US" sz="415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 Intelligence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457200" y="2834673"/>
            <a:ext cx="5000625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Optimiser l'implantation d'autopartage par l'analyse de l'accessibilité piétonne et le Machine Learning.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57200" y="4679156"/>
            <a:ext cx="387905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MOBILITY — </a:t>
            </a:r>
            <a:r>
              <a:rPr lang="en-US" sz="700" b="1" kern="0" spc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OPEN DATA TO LOCATION DECISIONS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7854553" y="4679156"/>
            <a:ext cx="83224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OCTOBRE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"/>
            <a:ext cx="82296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Le problème : où installer de nouvelles voitures partagées pour être utile ?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953691"/>
            <a:ext cx="6072188" cy="70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L'enjeu de Citiz est d'identifier les zones où le service sera le plus utile au plus grand </a:t>
            </a:r>
            <a:r>
              <a:rPr lang="en-US" sz="1150" dirty="0" err="1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</a:t>
            </a:r>
            <a:r>
              <a:rPr lang="en-US" sz="115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sans investissement inutile. L'outil doit répondre à trois défis majeurs :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457200" y="1946672"/>
            <a:ext cx="2590781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052475" y="2175272"/>
            <a:ext cx="1400175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Mesurer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1352569" y="2700338"/>
            <a:ext cx="7999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L'Accessibilité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2907506"/>
            <a:ext cx="21335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 peut rejoindre chaque habitant en cinq minutes à pied ?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76581" y="1946672"/>
            <a:ext cx="2590781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071882" y="2175272"/>
            <a:ext cx="1000125" cy="4393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Cibler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252206" y="2700338"/>
            <a:ext cx="6395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 Besoins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505181" y="2907506"/>
            <a:ext cx="21335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Où sont les habitants mal desservis par les transports existants ?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095963" y="1946672"/>
            <a:ext cx="2590781" cy="2586038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746602" y="2175272"/>
            <a:ext cx="1289447" cy="439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Décider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6969733" y="2700338"/>
            <a:ext cx="84318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L'Implantation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324563" y="2907506"/>
            <a:ext cx="213358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Estimer le potentiel des nouveaux sites et optimiser le budget.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4704159"/>
            <a:ext cx="8229600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: Guide Projet Citiz Intelligence — Page 2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"/>
            <a:ext cx="82296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Une architecture structurée pour transformer la donnée en décision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1882769"/>
            <a:ext cx="1571625" cy="453628"/>
          </a:xfrm>
          <a:prstGeom prst="rect">
            <a:avLst/>
          </a:prstGeom>
          <a:solidFill>
            <a:srgbClr val="FFFFFF"/>
          </a:solidFill>
          <a:ln w="18288">
            <a:solidFill>
              <a:srgbClr val="0D23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457200" y="1882769"/>
            <a:ext cx="1571625" cy="4536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INGESTION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2436409"/>
            <a:ext cx="1571625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Collecte Bronze des fichiers sources (CSV, PBF, API)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2121694" y="1882769"/>
            <a:ext cx="1571625" cy="453628"/>
          </a:xfrm>
          <a:prstGeom prst="rect">
            <a:avLst/>
          </a:prstGeom>
          <a:solidFill>
            <a:srgbClr val="FFFFFF"/>
          </a:solidFill>
          <a:ln w="18288">
            <a:solidFill>
              <a:srgbClr val="0D23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121694" y="1882769"/>
            <a:ext cx="1571625" cy="4536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HARMONISATION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121694" y="2436409"/>
            <a:ext cx="1571625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Nettoyage Silver : coordonnées, types et disponibilité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3786188" y="1882769"/>
            <a:ext cx="1571625" cy="453628"/>
          </a:xfrm>
          <a:prstGeom prst="rect">
            <a:avLst/>
          </a:prstGeom>
          <a:solidFill>
            <a:srgbClr val="FFFFFF"/>
          </a:solidFill>
          <a:ln w="18288">
            <a:solidFill>
              <a:srgbClr val="0D23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786188" y="1882769"/>
            <a:ext cx="1571625" cy="4536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ACCESSIBILITÉ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86188" y="2436409"/>
            <a:ext cx="1571625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 Gold : simulation piétonne 5 min (OSM)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5450681" y="1882769"/>
            <a:ext cx="1571625" cy="453628"/>
          </a:xfrm>
          <a:prstGeom prst="rect">
            <a:avLst/>
          </a:prstGeom>
          <a:solidFill>
            <a:srgbClr val="FFFFFF"/>
          </a:solidFill>
          <a:ln w="18288">
            <a:solidFill>
              <a:srgbClr val="0D23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450681" y="1882769"/>
            <a:ext cx="1571625" cy="4536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450681" y="2436409"/>
            <a:ext cx="1571625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Prédiction du potentiel des sites candidats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115175" y="1882769"/>
            <a:ext cx="1571625" cy="453628"/>
          </a:xfrm>
          <a:prstGeom prst="rect">
            <a:avLst/>
          </a:prstGeom>
          <a:solidFill>
            <a:srgbClr val="FFFFFF"/>
          </a:solidFill>
          <a:ln w="18288">
            <a:solidFill>
              <a:srgbClr val="0D233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7115175" y="1882769"/>
            <a:ext cx="1571625" cy="453628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OPTIMISATION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115175" y="2436409"/>
            <a:ext cx="1571625" cy="2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Sélection sous budget et dashboard interactif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57200" y="3925491"/>
            <a:ext cx="2552663" cy="607219"/>
          </a:xfrm>
          <a:prstGeom prst="rect">
            <a:avLst/>
          </a:prstGeom>
          <a:solidFill>
            <a:srgbClr val="F0EF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457200" y="3925491"/>
            <a:ext cx="28575" cy="607219"/>
          </a:xfrm>
          <a:prstGeom prst="rect">
            <a:avLst/>
          </a:prstGeom>
          <a:solidFill>
            <a:srgbClr val="E55A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00075" y="4068366"/>
            <a:ext cx="22669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BRONZE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0075" y="4275534"/>
            <a:ext cx="22669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Données sources brutes, formats hétérogènes.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95613" y="3925491"/>
            <a:ext cx="2552719" cy="607219"/>
          </a:xfrm>
          <a:prstGeom prst="rect">
            <a:avLst/>
          </a:prstGeom>
          <a:solidFill>
            <a:srgbClr val="F0EF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3295613" y="3925491"/>
            <a:ext cx="28575" cy="607219"/>
          </a:xfrm>
          <a:prstGeom prst="rect">
            <a:avLst/>
          </a:prstGeom>
          <a:solidFill>
            <a:srgbClr val="E55A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3438488" y="4068366"/>
            <a:ext cx="2266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SILVER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3438488" y="4275534"/>
            <a:ext cx="2266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Données nettoyées, validées et harmonisées.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134081" y="3925491"/>
            <a:ext cx="2552719" cy="607219"/>
          </a:xfrm>
          <a:prstGeom prst="rect">
            <a:avLst/>
          </a:prstGeom>
          <a:solidFill>
            <a:srgbClr val="F0EF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Shape 25"/>
          <p:cNvSpPr/>
          <p:nvPr/>
        </p:nvSpPr>
        <p:spPr>
          <a:xfrm>
            <a:off x="6134081" y="3925491"/>
            <a:ext cx="28575" cy="607219"/>
          </a:xfrm>
          <a:prstGeom prst="rect">
            <a:avLst/>
          </a:prstGeom>
          <a:solidFill>
            <a:srgbClr val="E55A4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6276956" y="4068366"/>
            <a:ext cx="2266969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GOLD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276956" y="4275534"/>
            <a:ext cx="22669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Indicateurs métier et prévisions ML exploitables.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57200" y="4532709"/>
            <a:ext cx="8229600" cy="29841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Plateforme : Microsoft Fabric (Notebooks PySpark, Lakehouse) — Page 3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"/>
            <a:ext cx="82296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Accessibilité nationale : plus de la moitié des habitants couverts à 5 min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896541"/>
            <a:ext cx="3943350" cy="3636169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685800" y="1125141"/>
            <a:ext cx="348615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56,8 %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85800" y="1768078"/>
            <a:ext cx="3486150" cy="1678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couverte en France*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85800" y="2050256"/>
            <a:ext cx="2213939" cy="153696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36,1 millions</a:t>
            </a: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d'habitants couverts sur le réseau.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85800" y="2318817"/>
            <a:ext cx="3486150" cy="18283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 effectué sur </a:t>
            </a: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2,32 millions</a:t>
            </a: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 carreaux INSEE.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2587377"/>
            <a:ext cx="3486150" cy="18283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Périmètre : Métropole, Martinique et La Réunion.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2855937"/>
            <a:ext cx="3486150" cy="182835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32 lots de calcul</a:t>
            </a: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distribués pour garantir la reprise et la fiabilité.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5800" y="4189809"/>
            <a:ext cx="34861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*Sur la population évaluable (environ 63,6 M d'habitants)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85800" y="2050256"/>
            <a:ext cx="3996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85800" y="2318817"/>
            <a:ext cx="3996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85800" y="2587377"/>
            <a:ext cx="3996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85800" y="2855937"/>
            <a:ext cx="39960" cy="1828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</a:t>
            </a:r>
            <a:endParaRPr lang="en-US" sz="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450" y="896541"/>
            <a:ext cx="3943350" cy="2500313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" y="4532709"/>
            <a:ext cx="8229600" cy="29841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 : Table gold.france_access_walk_5min_national_bilan — Page 4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42900"/>
            <a:ext cx="914400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23716"/>
            <a:ext cx="8229600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Les critères de sélection des sites candidats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252378"/>
            <a:ext cx="3971925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85800" y="1480978"/>
            <a:ext cx="35147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TERRAIN &amp; ENVIRONNEMENT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85800" y="1820306"/>
            <a:ext cx="3514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Parkings (OSM)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020331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Identification des </a:t>
            </a:r>
            <a:r>
              <a:rPr lang="en-US" sz="8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1 910 parkings</a:t>
            </a: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cartographiés. Candidats géographiques à valider sur le terrain.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85800" y="2511799"/>
            <a:ext cx="3514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 err="1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Arbres</a:t>
            </a:r>
            <a:r>
              <a:rPr lang="en-US" sz="95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r>
              <a:rPr lang="en-US" sz="950" b="1" dirty="0" err="1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Canopée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711824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Distance au plus proche arbre cartographié. Option d'exclusion si &lt; 15 m pour limiter l'entretien.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714875" y="1252378"/>
            <a:ext cx="3971925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943475" y="1480978"/>
            <a:ext cx="35147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E55A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&amp; ACCESSIBILITÉ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943475" y="1820306"/>
            <a:ext cx="3514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Sécurité (SSMSI)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943475" y="2020331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Intégration des taux communaux (vols, dégradations). Indicateur informatif, pas de pénalité automatique.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943475" y="2511799"/>
            <a:ext cx="35147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Accessibilité (OSM)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943475" y="2711824"/>
            <a:ext cx="35147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Vérification des tags d'accès (yes / permissive) et simulation piétonne réelle sur le réseau.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4038441"/>
            <a:ext cx="8229600" cy="335756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457200" y="4038441"/>
            <a:ext cx="28575" cy="335756"/>
          </a:xfrm>
          <a:prstGeom prst="rect">
            <a:avLst/>
          </a:prstGeom>
          <a:solidFill>
            <a:srgbClr val="0D23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457200" y="4038441"/>
            <a:ext cx="8229600" cy="335756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:</a:t>
            </a:r>
            <a:r>
              <a:rPr lang="en-US" sz="8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Ces critères servent d'aide à la décision. L'autorisation juridique et la disponibilité réelle des places restent à confirmer.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57200" y="4374197"/>
            <a:ext cx="8229600" cy="287130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Citiz Intelligence — Page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42900"/>
            <a:ext cx="8229600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Le Machine Learning : prédire le potentiel avant le calcul lourd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953691"/>
            <a:ext cx="1885950" cy="8858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628650" y="1125141"/>
            <a:ext cx="1543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0,693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8650" y="1539478"/>
            <a:ext cx="1543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(TEST)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2514600" y="953691"/>
            <a:ext cx="1885950" cy="8858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2686050" y="1125141"/>
            <a:ext cx="15430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366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686050" y="1539478"/>
            <a:ext cx="15430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 (HABITANTS)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57200" y="1996678"/>
            <a:ext cx="3943350" cy="885825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28650" y="2168128"/>
            <a:ext cx="3600450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55A45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75,9 %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28650" y="2582466"/>
            <a:ext cx="36004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23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RÉDUCTION DE L'ERREUR VS BASELINE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743450" y="953691"/>
            <a:ext cx="3943350" cy="3579019"/>
          </a:xfrm>
          <a:prstGeom prst="rect">
            <a:avLst/>
          </a:prstGeom>
          <a:solidFill>
            <a:srgbClr val="0D23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972050" y="1182291"/>
            <a:ext cx="3486150" cy="232172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Caractéristiques (Features)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114925" y="1557338"/>
            <a:ext cx="161906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dans un rayon de 360 m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114925" y="1803797"/>
            <a:ext cx="1619064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dans un rayon de 800 m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114925" y="2050256"/>
            <a:ext cx="1733141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Taux d'imputation INSEE à proximité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114925" y="2296716"/>
            <a:ext cx="1225042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Densité de carreaux 200 m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7200" y="4532709"/>
            <a:ext cx="8229600" cy="298415"/>
          </a:xfrm>
          <a:prstGeom prst="rect">
            <a:avLst/>
          </a:prstGeom>
          <a:noFill/>
          <a:ln/>
        </p:spPr>
        <p:txBody>
          <a:bodyPr wrap="square" lIns="0" tIns="204089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Cible : Population desservie OSM 5 min — Page  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175" y="171450"/>
            <a:ext cx="8629650" cy="1971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0D233A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Optimisation : maximiser l'impact sous contrainte de budget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257175" y="582885"/>
            <a:ext cx="5057775" cy="4099843"/>
          </a:xfrm>
          <a:prstGeom prst="rect">
            <a:avLst/>
          </a:prstGeom>
          <a:solidFill>
            <a:srgbClr val="FFFFFF"/>
          </a:solidFill>
          <a:ln w="9144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3" y="711473"/>
            <a:ext cx="4800600" cy="384266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14975" y="582885"/>
            <a:ext cx="3371850" cy="4099843"/>
          </a:xfrm>
          <a:prstGeom prst="rect">
            <a:avLst/>
          </a:prstGeom>
          <a:solidFill>
            <a:srgbClr val="F0EFE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3"/>
          <p:cNvSpPr/>
          <p:nvPr/>
        </p:nvSpPr>
        <p:spPr>
          <a:xfrm>
            <a:off x="5514975" y="582885"/>
            <a:ext cx="3371850" cy="28575"/>
          </a:xfrm>
          <a:prstGeom prst="rect">
            <a:avLst/>
          </a:prstGeom>
          <a:solidFill>
            <a:srgbClr val="0D23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4"/>
          <p:cNvSpPr/>
          <p:nvPr/>
        </p:nvSpPr>
        <p:spPr>
          <a:xfrm>
            <a:off x="5657850" y="725760"/>
            <a:ext cx="30861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0D233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Algorithme Glouton (Greedy)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5657850" y="1004367"/>
            <a:ext cx="3086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8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L'outil sélectionne à chaque étape le site offrant le meilleur </a:t>
            </a:r>
            <a:r>
              <a:rPr lang="en-US" sz="750" b="1" dirty="0">
                <a:solidFill>
                  <a:srgbClr val="22222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gain marginal pondéré</a:t>
            </a:r>
            <a:r>
              <a:rPr lang="en-US" sz="800" dirty="0">
                <a:solidFill>
                  <a:srgbClr val="22222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 euro investi.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657850" y="1432992"/>
            <a:ext cx="3086100" cy="725760"/>
          </a:xfrm>
          <a:prstGeom prst="rect">
            <a:avLst/>
          </a:prstGeom>
          <a:solidFill>
            <a:srgbClr val="FFFFFF"/>
          </a:solidFill>
          <a:ln w="9144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5657850" y="1432992"/>
            <a:ext cx="3086100" cy="725760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50" dirty="0">
                <a:solidFill>
                  <a:srgbClr val="0D233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Priorité = Gain Pondéré / Coût Site
 Gain = (1.0 × Pop. 1re Option)
+ (0.45 × Pop. Autopartage)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657850" y="2287339"/>
            <a:ext cx="30861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650" i="1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gain est recalculé dynamiquement après chaque sélection pour éviter le double comptage des habitants.</a:t>
            </a:r>
            <a:endParaRPr lang="en-US" sz="650" dirty="0"/>
          </a:p>
        </p:txBody>
      </p:sp>
      <p:sp>
        <p:nvSpPr>
          <p:cNvPr id="13" name="Text 9"/>
          <p:cNvSpPr/>
          <p:nvPr/>
        </p:nvSpPr>
        <p:spPr>
          <a:xfrm>
            <a:off x="257175" y="4782741"/>
            <a:ext cx="8629650" cy="195438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 err="1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Scénarios</a:t>
            </a:r>
            <a:r>
              <a:rPr lang="en-US" sz="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600" dirty="0" err="1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référence</a:t>
            </a:r>
            <a:r>
              <a:rPr lang="en-US" sz="600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Page 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5B9C34-EB54-956B-40D6-EB00F549F1E0}"/>
              </a:ext>
            </a:extLst>
          </p:cNvPr>
          <p:cNvSpPr txBox="1"/>
          <p:nvPr/>
        </p:nvSpPr>
        <p:spPr>
          <a:xfrm>
            <a:off x="755763" y="2017752"/>
            <a:ext cx="763247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6600" dirty="0"/>
              <a:t>DEMONSTRATION ML</a:t>
            </a:r>
          </a:p>
        </p:txBody>
      </p:sp>
    </p:spTree>
    <p:extLst>
      <p:ext uri="{BB962C8B-B14F-4D97-AF65-F5344CB8AC3E}">
        <p14:creationId xmlns:p14="http://schemas.microsoft.com/office/powerpoint/2010/main" val="494154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582</Words>
  <Application>Microsoft Office PowerPoint</Application>
  <PresentationFormat>Affichage à l'écran (16:9)</PresentationFormat>
  <Paragraphs>87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Arial</vt:lpstr>
      <vt:lpstr>Inter</vt:lpstr>
      <vt:lpstr>Inter Bold</vt:lpstr>
      <vt:lpstr>Lora Bold</vt:lpstr>
      <vt:lpstr>monospace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Jason Castro</cp:lastModifiedBy>
  <cp:revision>7</cp:revision>
  <dcterms:created xsi:type="dcterms:W3CDTF">2026-10-21T08:06:22Z</dcterms:created>
  <dcterms:modified xsi:type="dcterms:W3CDTF">2026-10-21T09:10:19Z</dcterms:modified>
</cp:coreProperties>
</file>